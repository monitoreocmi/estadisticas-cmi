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8" r:id="rId3"/>
    <p:sldId id="285" r:id="rId4"/>
    <p:sldId id="256" r:id="rId5"/>
    <p:sldId id="282" r:id="rId6"/>
    <p:sldId id="284" r:id="rId7"/>
    <p:sldId id="276" r:id="rId8"/>
    <p:sldId id="286" r:id="rId9"/>
    <p:sldId id="274" r:id="rId10"/>
    <p:sldId id="283" r:id="rId11"/>
    <p:sldId id="277" r:id="rId12"/>
    <p:sldId id="279" r:id="rId13"/>
    <p:sldId id="281" r:id="rId14"/>
    <p:sldId id="275" r:id="rId15"/>
    <p:sldId id="280" r:id="rId16"/>
    <p:sldId id="290" r:id="rId17"/>
    <p:sldId id="288" r:id="rId18"/>
    <p:sldId id="261" r:id="rId19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F8E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93" autoAdjust="0"/>
    <p:restoredTop sz="94660"/>
  </p:normalViewPr>
  <p:slideViewPr>
    <p:cSldViewPr snapToGrid="0">
      <p:cViewPr>
        <p:scale>
          <a:sx n="67" d="100"/>
          <a:sy n="67" d="100"/>
        </p:scale>
        <p:origin x="195" y="15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JUAN%20RAMIREZ%20CONTROL%20DE%20REPORTES\1.CONTROL%20SEMANAL%20DE%20ESTADISDICAS%20SEMANAL%20J.R\A%20GRAFICO%20ESTADISTICO%20SEMANAL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5587697963854691E-2"/>
          <c:y val="6.3785151574710236E-2"/>
          <c:w val="0.8755672074163261"/>
          <c:h val="0.66960402179780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Hoja2!$B$19</c:f>
              <c:strCache>
                <c:ptCount val="1"/>
                <c:pt idx="0">
                  <c:v>SEMANA 
04/05/2026
AL 10/05/2026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V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Hoja2!$A$20:$A$34</c:f>
              <c:strCache>
                <c:ptCount val="15"/>
                <c:pt idx="0">
                  <c:v>IPSFA</c:v>
                </c:pt>
                <c:pt idx="1">
                  <c:v>Guacara</c:v>
                </c:pt>
                <c:pt idx="2">
                  <c:v>Naguanagua</c:v>
                </c:pt>
                <c:pt idx="3">
                  <c:v>Acacias</c:v>
                </c:pt>
                <c:pt idx="4">
                  <c:v>Bosque </c:v>
                </c:pt>
                <c:pt idx="5">
                  <c:v>Circulo Militar</c:v>
                </c:pt>
                <c:pt idx="6">
                  <c:v>Euromaxx 
San Diego</c:v>
                </c:pt>
                <c:pt idx="7">
                  <c:v>Santa Rita</c:v>
                </c:pt>
                <c:pt idx="8">
                  <c:v>Euromaxx Maracay Villas</c:v>
                </c:pt>
                <c:pt idx="9">
                  <c:v>San Juan</c:v>
                </c:pt>
                <c:pt idx="10">
                  <c:v>Victoria</c:v>
                </c:pt>
                <c:pt idx="11">
                  <c:v>Mora </c:v>
                </c:pt>
                <c:pt idx="12">
                  <c:v>Barquisimeto</c:v>
                </c:pt>
                <c:pt idx="13">
                  <c:v>Tucacas</c:v>
                </c:pt>
                <c:pt idx="14">
                  <c:v>Castaño</c:v>
                </c:pt>
              </c:strCache>
            </c:strRef>
          </c:cat>
          <c:val>
            <c:numRef>
              <c:f>Hoja2!$B$20:$B$34</c:f>
              <c:numCache>
                <c:formatCode>General</c:formatCode>
                <c:ptCount val="15"/>
                <c:pt idx="0">
                  <c:v>7</c:v>
                </c:pt>
                <c:pt idx="1">
                  <c:v>4</c:v>
                </c:pt>
                <c:pt idx="2">
                  <c:v>7</c:v>
                </c:pt>
                <c:pt idx="3">
                  <c:v>4</c:v>
                </c:pt>
                <c:pt idx="4">
                  <c:v>13</c:v>
                </c:pt>
                <c:pt idx="5">
                  <c:v>27</c:v>
                </c:pt>
                <c:pt idx="6">
                  <c:v>18</c:v>
                </c:pt>
                <c:pt idx="7">
                  <c:v>18</c:v>
                </c:pt>
                <c:pt idx="8">
                  <c:v>5</c:v>
                </c:pt>
                <c:pt idx="9">
                  <c:v>9</c:v>
                </c:pt>
                <c:pt idx="10">
                  <c:v>23</c:v>
                </c:pt>
                <c:pt idx="11">
                  <c:v>3</c:v>
                </c:pt>
                <c:pt idx="12">
                  <c:v>0</c:v>
                </c:pt>
                <c:pt idx="13">
                  <c:v>1</c:v>
                </c:pt>
                <c:pt idx="1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17-4596-AC81-D778B4722FA4}"/>
            </c:ext>
          </c:extLst>
        </c:ser>
        <c:ser>
          <c:idx val="1"/>
          <c:order val="1"/>
          <c:tx>
            <c:strRef>
              <c:f>Hoja2!$C$19</c:f>
              <c:strCache>
                <c:ptCount val="1"/>
                <c:pt idx="0">
                  <c:v>SEMANA 
11/05/2026
AL 17/05/2026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V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Hoja2!$A$20:$A$34</c:f>
              <c:strCache>
                <c:ptCount val="15"/>
                <c:pt idx="0">
                  <c:v>IPSFA</c:v>
                </c:pt>
                <c:pt idx="1">
                  <c:v>Guacara</c:v>
                </c:pt>
                <c:pt idx="2">
                  <c:v>Naguanagua</c:v>
                </c:pt>
                <c:pt idx="3">
                  <c:v>Acacias</c:v>
                </c:pt>
                <c:pt idx="4">
                  <c:v>Bosque </c:v>
                </c:pt>
                <c:pt idx="5">
                  <c:v>Circulo Militar</c:v>
                </c:pt>
                <c:pt idx="6">
                  <c:v>Euromaxx 
San Diego</c:v>
                </c:pt>
                <c:pt idx="7">
                  <c:v>Santa Rita</c:v>
                </c:pt>
                <c:pt idx="8">
                  <c:v>Euromaxx Maracay Villas</c:v>
                </c:pt>
                <c:pt idx="9">
                  <c:v>San Juan</c:v>
                </c:pt>
                <c:pt idx="10">
                  <c:v>Victoria</c:v>
                </c:pt>
                <c:pt idx="11">
                  <c:v>Mora </c:v>
                </c:pt>
                <c:pt idx="12">
                  <c:v>Barquisimeto</c:v>
                </c:pt>
                <c:pt idx="13">
                  <c:v>Tucacas</c:v>
                </c:pt>
                <c:pt idx="14">
                  <c:v>Castaño</c:v>
                </c:pt>
              </c:strCache>
            </c:strRef>
          </c:cat>
          <c:val>
            <c:numRef>
              <c:f>Hoja2!$C$20:$C$34</c:f>
              <c:numCache>
                <c:formatCode>General</c:formatCode>
                <c:ptCount val="15"/>
                <c:pt idx="0">
                  <c:v>8</c:v>
                </c:pt>
                <c:pt idx="1">
                  <c:v>3</c:v>
                </c:pt>
                <c:pt idx="2">
                  <c:v>6</c:v>
                </c:pt>
                <c:pt idx="3">
                  <c:v>4</c:v>
                </c:pt>
                <c:pt idx="4">
                  <c:v>14</c:v>
                </c:pt>
                <c:pt idx="5">
                  <c:v>18</c:v>
                </c:pt>
                <c:pt idx="6">
                  <c:v>17</c:v>
                </c:pt>
                <c:pt idx="7">
                  <c:v>14</c:v>
                </c:pt>
                <c:pt idx="8">
                  <c:v>3</c:v>
                </c:pt>
                <c:pt idx="9">
                  <c:v>24</c:v>
                </c:pt>
                <c:pt idx="10">
                  <c:v>20</c:v>
                </c:pt>
                <c:pt idx="11">
                  <c:v>2</c:v>
                </c:pt>
                <c:pt idx="12">
                  <c:v>5</c:v>
                </c:pt>
                <c:pt idx="13">
                  <c:v>2</c:v>
                </c:pt>
                <c:pt idx="1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17-4596-AC81-D778B4722FA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64620976"/>
        <c:axId val="164622656"/>
      </c:barChart>
      <c:catAx>
        <c:axId val="16462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VE"/>
          </a:p>
        </c:txPr>
        <c:crossAx val="164622656"/>
        <c:crosses val="autoZero"/>
        <c:auto val="1"/>
        <c:lblAlgn val="ctr"/>
        <c:lblOffset val="100"/>
        <c:noMultiLvlLbl val="0"/>
      </c:catAx>
      <c:valAx>
        <c:axId val="16462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VE"/>
          </a:p>
        </c:txPr>
        <c:crossAx val="1646209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4499798501759481"/>
          <c:y val="0.8438561750324578"/>
          <c:w val="0.18208287403891377"/>
          <c:h val="0.126321768715629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V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V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983680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2310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01866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14846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80904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8397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6406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5573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79279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3366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685842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66C7C-FCCE-4D81-BEFB-273D1E3B3852}" type="datetimeFigureOut">
              <a:rPr lang="es-VE" smtClean="0"/>
              <a:t>18/5/2026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41321-CFAE-4269-AF95-59D09F8DCF81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83445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Worksheet1.xlsx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Worksheet3.xlsx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emf"/><Relationship Id="rId5" Type="http://schemas.openxmlformats.org/officeDocument/2006/relationships/package" Target="../embeddings/Microsoft_Excel_Worksheet5.xlsx"/><Relationship Id="rId4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Excel_Worksheet7.xlsx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Excel_Worksheet9.xlsx"/><Relationship Id="rId4" Type="http://schemas.openxmlformats.org/officeDocument/2006/relationships/image" Target="../media/image1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Excel_Worksheet11.xlsx"/><Relationship Id="rId4" Type="http://schemas.openxmlformats.org/officeDocument/2006/relationships/image" Target="../media/image1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emf"/><Relationship Id="rId5" Type="http://schemas.openxmlformats.org/officeDocument/2006/relationships/package" Target="../embeddings/Microsoft_Excel_Worksheet13.xlsx"/><Relationship Id="rId4" Type="http://schemas.openxmlformats.org/officeDocument/2006/relationships/image" Target="../media/image1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Excel_Worksheet15.xlsx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Excel_Worksheet17.xlsx"/><Relationship Id="rId4" Type="http://schemas.openxmlformats.org/officeDocument/2006/relationships/image" Target="../media/image2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Excel_Worksheet19.xlsx"/><Relationship Id="rId4" Type="http://schemas.openxmlformats.org/officeDocument/2006/relationships/image" Target="../media/image2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Excel_Worksheet21.xlsx"/><Relationship Id="rId4" Type="http://schemas.openxmlformats.org/officeDocument/2006/relationships/image" Target="../media/image2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Excel_Worksheet23.xlsx"/><Relationship Id="rId4" Type="http://schemas.openxmlformats.org/officeDocument/2006/relationships/image" Target="../media/image2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Excel_Worksheet25.xlsx"/><Relationship Id="rId4" Type="http://schemas.openxmlformats.org/officeDocument/2006/relationships/image" Target="../media/image2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Excel_Worksheet27.xlsx"/><Relationship Id="rId4" Type="http://schemas.openxmlformats.org/officeDocument/2006/relationships/image" Target="../media/image3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Excel_Worksheet29.xlsx"/><Relationship Id="rId4" Type="http://schemas.openxmlformats.org/officeDocument/2006/relationships/image" Target="../media/image3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package" Target="../embeddings/Microsoft_Excel_Worksheet30.xlsx"/><Relationship Id="rId7" Type="http://schemas.openxmlformats.org/officeDocument/2006/relationships/package" Target="../embeddings/Microsoft_Excel_Worksheet32.xlsx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Excel_Worksheet31.xlsx"/><Relationship Id="rId10" Type="http://schemas.openxmlformats.org/officeDocument/2006/relationships/image" Target="../media/image38.emf"/><Relationship Id="rId4" Type="http://schemas.openxmlformats.org/officeDocument/2006/relationships/image" Target="../media/image35.emf"/><Relationship Id="rId9" Type="http://schemas.openxmlformats.org/officeDocument/2006/relationships/package" Target="../embeddings/Microsoft_Excel_Worksheet33.xls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4812D7D0-41F5-CD38-00F9-E3A078002A08}"/>
              </a:ext>
            </a:extLst>
          </p:cNvPr>
          <p:cNvSpPr/>
          <p:nvPr/>
        </p:nvSpPr>
        <p:spPr>
          <a:xfrm>
            <a:off x="9202772" y="1285360"/>
            <a:ext cx="1922059" cy="4280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E567C49-AB51-EA29-DEB6-90236679B55E}"/>
              </a:ext>
            </a:extLst>
          </p:cNvPr>
          <p:cNvSpPr/>
          <p:nvPr/>
        </p:nvSpPr>
        <p:spPr>
          <a:xfrm>
            <a:off x="748912" y="1415014"/>
            <a:ext cx="1922059" cy="42804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EDA848C-FF0D-ADA0-D364-D4CD2DD30D50}"/>
              </a:ext>
            </a:extLst>
          </p:cNvPr>
          <p:cNvSpPr/>
          <p:nvPr/>
        </p:nvSpPr>
        <p:spPr>
          <a:xfrm>
            <a:off x="0" y="3425587"/>
            <a:ext cx="12192000" cy="259309"/>
          </a:xfrm>
          <a:prstGeom prst="rect">
            <a:avLst/>
          </a:prstGeom>
          <a:solidFill>
            <a:srgbClr val="002F8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30D0286-25B6-A519-D459-0CB90ED182F9}"/>
              </a:ext>
            </a:extLst>
          </p:cNvPr>
          <p:cNvSpPr/>
          <p:nvPr/>
        </p:nvSpPr>
        <p:spPr>
          <a:xfrm>
            <a:off x="2017754" y="2320119"/>
            <a:ext cx="7992141" cy="22109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8FBB668-4A4D-B159-B974-9EF6CBEA8CF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5" b="20000"/>
          <a:stretch/>
        </p:blipFill>
        <p:spPr>
          <a:xfrm>
            <a:off x="2017754" y="1187354"/>
            <a:ext cx="7992141" cy="447646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174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6381"/>
              </p:ext>
            </p:extLst>
          </p:nvPr>
        </p:nvGraphicFramePr>
        <p:xfrm>
          <a:off x="1065212" y="2914061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5212" y="2914061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34784" y="1494906"/>
            <a:ext cx="33709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ACACIAS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674246"/>
              </p:ext>
            </p:extLst>
          </p:nvPr>
        </p:nvGraphicFramePr>
        <p:xfrm>
          <a:off x="6527800" y="2965450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27800" y="2965450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64296CB3-32A8-44F6-D0E2-7F4F59F70EB9}"/>
              </a:ext>
            </a:extLst>
          </p:cNvPr>
          <p:cNvSpPr txBox="1"/>
          <p:nvPr/>
        </p:nvSpPr>
        <p:spPr>
          <a:xfrm>
            <a:off x="3776757" y="228487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0A4D1AE-D22C-43A0-0D88-4478B0AA3758}"/>
              </a:ext>
            </a:extLst>
          </p:cNvPr>
          <p:cNvSpPr txBox="1"/>
          <p:nvPr/>
        </p:nvSpPr>
        <p:spPr>
          <a:xfrm>
            <a:off x="9182018" y="2324651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6080E2-68A1-C7BB-A655-177894EC5928}"/>
              </a:ext>
            </a:extLst>
          </p:cNvPr>
          <p:cNvSpPr txBox="1"/>
          <p:nvPr/>
        </p:nvSpPr>
        <p:spPr>
          <a:xfrm>
            <a:off x="699961" y="2284875"/>
            <a:ext cx="212687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26BACF3-682D-E534-FBB0-555426D39345}"/>
              </a:ext>
            </a:extLst>
          </p:cNvPr>
          <p:cNvSpPr txBox="1"/>
          <p:nvPr/>
        </p:nvSpPr>
        <p:spPr>
          <a:xfrm>
            <a:off x="6244573" y="236319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266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2261"/>
              </p:ext>
            </p:extLst>
          </p:nvPr>
        </p:nvGraphicFramePr>
        <p:xfrm>
          <a:off x="1074738" y="2843213"/>
          <a:ext cx="4702175" cy="299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74738" y="2843213"/>
                        <a:ext cx="4702175" cy="299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921366"/>
              </p:ext>
            </p:extLst>
          </p:nvPr>
        </p:nvGraphicFramePr>
        <p:xfrm>
          <a:off x="6518275" y="2908300"/>
          <a:ext cx="4598988" cy="2741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18275" y="2908300"/>
                        <a:ext cx="4598988" cy="2741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1586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BARQUISIMETO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C24361-FE1A-ADCA-BEB6-ADFD01E6A16F}"/>
              </a:ext>
            </a:extLst>
          </p:cNvPr>
          <p:cNvSpPr txBox="1"/>
          <p:nvPr/>
        </p:nvSpPr>
        <p:spPr>
          <a:xfrm>
            <a:off x="3877072" y="22722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D28E51C-0F9B-5443-E1F8-3F1BDC25B17D}"/>
              </a:ext>
            </a:extLst>
          </p:cNvPr>
          <p:cNvSpPr txBox="1"/>
          <p:nvPr/>
        </p:nvSpPr>
        <p:spPr>
          <a:xfrm>
            <a:off x="9199927" y="2285151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AA2752-3CD1-4A58-9D3E-CDDB145044B6}"/>
              </a:ext>
            </a:extLst>
          </p:cNvPr>
          <p:cNvSpPr txBox="1"/>
          <p:nvPr/>
        </p:nvSpPr>
        <p:spPr>
          <a:xfrm>
            <a:off x="829791" y="2239086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30F530C-BC15-375D-A954-54E2631E3C63}"/>
              </a:ext>
            </a:extLst>
          </p:cNvPr>
          <p:cNvSpPr txBox="1"/>
          <p:nvPr/>
        </p:nvSpPr>
        <p:spPr>
          <a:xfrm>
            <a:off x="6120277" y="234880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492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36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Bahnschrift" panose="020B0502040204020203" pitchFamily="34" charset="0"/>
              </a:rPr>
              <a:t>Novedades no corregidas y los incidentes ocurridos durante las dos últimas semanas</a:t>
            </a:r>
            <a:endParaRPr lang="es-VE" sz="2000" dirty="0">
              <a:latin typeface="Bahnschrift" panose="020B0502040204020203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Bahnschrift" panose="020B0502040204020203" pitchFamily="34" charset="0"/>
              </a:rPr>
              <a:t>Datos claves para futuras mejoras</a:t>
            </a:r>
            <a:endParaRPr lang="es-VE" sz="2000" dirty="0">
              <a:latin typeface="Bahnschrift" panose="020B0502040204020203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5051034" y="1413148"/>
            <a:ext cx="2089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BOSQUE</a:t>
            </a:r>
            <a:endParaRPr lang="es-VE" sz="20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ontserrat Black" panose="00000A00000000000000" pitchFamily="50" charset="0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922039"/>
              </p:ext>
            </p:extLst>
          </p:nvPr>
        </p:nvGraphicFramePr>
        <p:xfrm>
          <a:off x="1122363" y="269557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22363" y="269557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2562"/>
              </p:ext>
            </p:extLst>
          </p:nvPr>
        </p:nvGraphicFramePr>
        <p:xfrm>
          <a:off x="6689665" y="2696061"/>
          <a:ext cx="4598988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689665" y="2696061"/>
                        <a:ext cx="4598988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7FD1C2A-231B-769F-BA4F-B1BCBD8A7F2D}"/>
              </a:ext>
            </a:extLst>
          </p:cNvPr>
          <p:cNvSpPr txBox="1"/>
          <p:nvPr/>
        </p:nvSpPr>
        <p:spPr>
          <a:xfrm>
            <a:off x="3804295" y="203578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9CB8FC8-045A-9556-684B-785A42E6311B}"/>
              </a:ext>
            </a:extLst>
          </p:cNvPr>
          <p:cNvSpPr txBox="1"/>
          <p:nvPr/>
        </p:nvSpPr>
        <p:spPr>
          <a:xfrm>
            <a:off x="9442773" y="193636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644313-51B9-A045-AE1A-3AFD58D4E6A3}"/>
              </a:ext>
            </a:extLst>
          </p:cNvPr>
          <p:cNvSpPr txBox="1"/>
          <p:nvPr/>
        </p:nvSpPr>
        <p:spPr>
          <a:xfrm>
            <a:off x="776456" y="209373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977CFC2-E96A-40C3-EDC5-FFED0A081350}"/>
              </a:ext>
            </a:extLst>
          </p:cNvPr>
          <p:cNvSpPr txBox="1"/>
          <p:nvPr/>
        </p:nvSpPr>
        <p:spPr>
          <a:xfrm>
            <a:off x="6402796" y="203578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93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3430687"/>
              </p:ext>
            </p:extLst>
          </p:nvPr>
        </p:nvGraphicFramePr>
        <p:xfrm>
          <a:off x="1039813" y="2840038"/>
          <a:ext cx="4702175" cy="299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9813" y="2840038"/>
                        <a:ext cx="4702175" cy="2998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926123"/>
              </p:ext>
            </p:extLst>
          </p:nvPr>
        </p:nvGraphicFramePr>
        <p:xfrm>
          <a:off x="6923088" y="2874963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874963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4133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CIRCULO MILITIAR 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311073-B67B-EE68-0F8C-8A286BEC5D64}"/>
              </a:ext>
            </a:extLst>
          </p:cNvPr>
          <p:cNvSpPr txBox="1"/>
          <p:nvPr/>
        </p:nvSpPr>
        <p:spPr>
          <a:xfrm>
            <a:off x="9604298" y="23335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09AFD89-90FB-A73A-5F59-0D146585F539}"/>
              </a:ext>
            </a:extLst>
          </p:cNvPr>
          <p:cNvSpPr txBox="1"/>
          <p:nvPr/>
        </p:nvSpPr>
        <p:spPr>
          <a:xfrm>
            <a:off x="3837599" y="229788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43B4AC-BACC-B45A-BC52-9DD4AE1C8DE3}"/>
              </a:ext>
            </a:extLst>
          </p:cNvPr>
          <p:cNvSpPr txBox="1"/>
          <p:nvPr/>
        </p:nvSpPr>
        <p:spPr>
          <a:xfrm>
            <a:off x="777283" y="225375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BAA9C98-4C05-0A68-33B9-341944F7E538}"/>
              </a:ext>
            </a:extLst>
          </p:cNvPr>
          <p:cNvSpPr txBox="1"/>
          <p:nvPr/>
        </p:nvSpPr>
        <p:spPr>
          <a:xfrm>
            <a:off x="6595752" y="226295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83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600596"/>
              </p:ext>
            </p:extLst>
          </p:nvPr>
        </p:nvGraphicFramePr>
        <p:xfrm>
          <a:off x="1082675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076014"/>
              </p:ext>
            </p:extLst>
          </p:nvPr>
        </p:nvGraphicFramePr>
        <p:xfrm>
          <a:off x="6870041" y="2879724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70041" y="2879724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3431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EUROMAXX MARACAY VILLAS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FC3EB0A-5A8B-DBFC-5C27-27A47D1A52E4}"/>
              </a:ext>
            </a:extLst>
          </p:cNvPr>
          <p:cNvSpPr txBox="1"/>
          <p:nvPr/>
        </p:nvSpPr>
        <p:spPr>
          <a:xfrm>
            <a:off x="3901351" y="2330012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E0EF60D-BBEF-7FA8-2A6C-C8E6A9E3793D}"/>
              </a:ext>
            </a:extLst>
          </p:cNvPr>
          <p:cNvSpPr txBox="1"/>
          <p:nvPr/>
        </p:nvSpPr>
        <p:spPr>
          <a:xfrm>
            <a:off x="9607315" y="2257536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F5CCDE4-0FC8-CBC8-77FF-C15E300CBD18}"/>
              </a:ext>
            </a:extLst>
          </p:cNvPr>
          <p:cNvSpPr txBox="1"/>
          <p:nvPr/>
        </p:nvSpPr>
        <p:spPr>
          <a:xfrm>
            <a:off x="722972" y="2302643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357897-6671-6688-368F-D3C6D9C81C69}"/>
              </a:ext>
            </a:extLst>
          </p:cNvPr>
          <p:cNvSpPr txBox="1"/>
          <p:nvPr/>
        </p:nvSpPr>
        <p:spPr>
          <a:xfrm>
            <a:off x="6434536" y="2330012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735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280809"/>
              </p:ext>
            </p:extLst>
          </p:nvPr>
        </p:nvGraphicFramePr>
        <p:xfrm>
          <a:off x="1003597" y="28892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03597" y="28892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279727"/>
              </p:ext>
            </p:extLst>
          </p:nvPr>
        </p:nvGraphicFramePr>
        <p:xfrm>
          <a:off x="6918325" y="2889250"/>
          <a:ext cx="4598988" cy="231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411134" progId="Excel.Sheet.12">
                  <p:embed/>
                </p:oleObj>
              </mc:Choice>
              <mc:Fallback>
                <p:oleObj name="Worksheet" r:id="rId5" imgW="4599162" imgH="2411134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89250"/>
                        <a:ext cx="4598988" cy="2312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10508" y="1443004"/>
            <a:ext cx="4916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EUROMAXX SAN DIEGO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BDE2533-44E6-DDB7-9876-B7ECAB8161C6}"/>
              </a:ext>
            </a:extLst>
          </p:cNvPr>
          <p:cNvSpPr txBox="1"/>
          <p:nvPr/>
        </p:nvSpPr>
        <p:spPr>
          <a:xfrm>
            <a:off x="3796506" y="231216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E70C7C-6B45-434E-D6F2-B3553304F977}"/>
              </a:ext>
            </a:extLst>
          </p:cNvPr>
          <p:cNvSpPr txBox="1"/>
          <p:nvPr/>
        </p:nvSpPr>
        <p:spPr>
          <a:xfrm>
            <a:off x="9632323" y="233889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49906F0-19B6-9BE6-828B-042A79AEB776}"/>
              </a:ext>
            </a:extLst>
          </p:cNvPr>
          <p:cNvSpPr txBox="1"/>
          <p:nvPr/>
        </p:nvSpPr>
        <p:spPr>
          <a:xfrm>
            <a:off x="748572" y="23335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D576C2E-4924-39FC-3984-DDB45243035F}"/>
              </a:ext>
            </a:extLst>
          </p:cNvPr>
          <p:cNvSpPr txBox="1"/>
          <p:nvPr/>
        </p:nvSpPr>
        <p:spPr>
          <a:xfrm>
            <a:off x="6404754" y="231216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015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8602615"/>
              </p:ext>
            </p:extLst>
          </p:nvPr>
        </p:nvGraphicFramePr>
        <p:xfrm>
          <a:off x="928013" y="28434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28013" y="28434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1329985"/>
              </p:ext>
            </p:extLst>
          </p:nvPr>
        </p:nvGraphicFramePr>
        <p:xfrm>
          <a:off x="6923088" y="2965450"/>
          <a:ext cx="4598987" cy="250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503631" progId="Excel.Sheet.12">
                  <p:embed/>
                </p:oleObj>
              </mc:Choice>
              <mc:Fallback>
                <p:oleObj name="Worksheet" r:id="rId5" imgW="4599162" imgH="2503631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965450"/>
                        <a:ext cx="4598987" cy="2503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677AC61-1839-F455-087B-7AAC186A8E95}"/>
              </a:ext>
            </a:extLst>
          </p:cNvPr>
          <p:cNvSpPr txBox="1"/>
          <p:nvPr/>
        </p:nvSpPr>
        <p:spPr>
          <a:xfrm>
            <a:off x="2872081" y="1715866"/>
            <a:ext cx="6496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GUACARA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3FEA493-C73F-AC5E-56CE-A21C302B7456}"/>
              </a:ext>
            </a:extLst>
          </p:cNvPr>
          <p:cNvSpPr txBox="1"/>
          <p:nvPr/>
        </p:nvSpPr>
        <p:spPr>
          <a:xfrm>
            <a:off x="3773236" y="2311416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E87288-E119-2118-1F8A-866502CFCD48}"/>
              </a:ext>
            </a:extLst>
          </p:cNvPr>
          <p:cNvSpPr txBox="1"/>
          <p:nvPr/>
        </p:nvSpPr>
        <p:spPr>
          <a:xfrm>
            <a:off x="9630008" y="2388369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ED7339D-6EBD-ABC2-134F-C400695F3AA0}"/>
              </a:ext>
            </a:extLst>
          </p:cNvPr>
          <p:cNvSpPr txBox="1"/>
          <p:nvPr/>
        </p:nvSpPr>
        <p:spPr>
          <a:xfrm>
            <a:off x="663863" y="225053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A901819-95EF-B7CF-C5CA-57F54850F74C}"/>
              </a:ext>
            </a:extLst>
          </p:cNvPr>
          <p:cNvSpPr txBox="1"/>
          <p:nvPr/>
        </p:nvSpPr>
        <p:spPr>
          <a:xfrm>
            <a:off x="6618459" y="238836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459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12223" y="102073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5051034" y="1413148"/>
            <a:ext cx="2089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IPSFA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1239022"/>
              </p:ext>
            </p:extLst>
          </p:nvPr>
        </p:nvGraphicFramePr>
        <p:xfrm>
          <a:off x="943227" y="2893539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3227" y="2893539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427547"/>
              </p:ext>
            </p:extLst>
          </p:nvPr>
        </p:nvGraphicFramePr>
        <p:xfrm>
          <a:off x="6869113" y="2965450"/>
          <a:ext cx="4598987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69113" y="2965450"/>
                        <a:ext cx="4598987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E8B472AE-2AB4-0B8D-F515-CEBB3476D3E7}"/>
              </a:ext>
            </a:extLst>
          </p:cNvPr>
          <p:cNvSpPr txBox="1"/>
          <p:nvPr/>
        </p:nvSpPr>
        <p:spPr>
          <a:xfrm>
            <a:off x="3776830" y="2333597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D409CC6-4882-1428-B24A-ABF9CE5FC84A}"/>
              </a:ext>
            </a:extLst>
          </p:cNvPr>
          <p:cNvSpPr txBox="1"/>
          <p:nvPr/>
        </p:nvSpPr>
        <p:spPr>
          <a:xfrm>
            <a:off x="9555231" y="2389085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CBDA893-E388-9B8D-2D11-BF6ACA31D413}"/>
              </a:ext>
            </a:extLst>
          </p:cNvPr>
          <p:cNvSpPr txBox="1"/>
          <p:nvPr/>
        </p:nvSpPr>
        <p:spPr>
          <a:xfrm>
            <a:off x="575573" y="231645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BCBDBF0-D057-8020-C820-342E0B87E425}"/>
              </a:ext>
            </a:extLst>
          </p:cNvPr>
          <p:cNvSpPr txBox="1"/>
          <p:nvPr/>
        </p:nvSpPr>
        <p:spPr>
          <a:xfrm>
            <a:off x="6454040" y="238908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871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001206"/>
              </p:ext>
            </p:extLst>
          </p:nvPr>
        </p:nvGraphicFramePr>
        <p:xfrm>
          <a:off x="1058301" y="2952078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58301" y="2952078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270971"/>
              </p:ext>
            </p:extLst>
          </p:nvPr>
        </p:nvGraphicFramePr>
        <p:xfrm>
          <a:off x="6923088" y="2938463"/>
          <a:ext cx="4598987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23088" y="2938463"/>
                        <a:ext cx="4598987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MORA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41B435-9124-C4BE-45EA-294508C4EB15}"/>
              </a:ext>
            </a:extLst>
          </p:cNvPr>
          <p:cNvSpPr txBox="1"/>
          <p:nvPr/>
        </p:nvSpPr>
        <p:spPr>
          <a:xfrm>
            <a:off x="3877074" y="2374997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C82DAB-E9C1-C170-8BA7-468CF7BFF5DB}"/>
              </a:ext>
            </a:extLst>
          </p:cNvPr>
          <p:cNvSpPr txBox="1"/>
          <p:nvPr/>
        </p:nvSpPr>
        <p:spPr>
          <a:xfrm>
            <a:off x="9596774" y="23749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7C35D2-43B2-6EB0-CE8C-F27C0382F11D}"/>
              </a:ext>
            </a:extLst>
          </p:cNvPr>
          <p:cNvSpPr txBox="1"/>
          <p:nvPr/>
        </p:nvSpPr>
        <p:spPr>
          <a:xfrm>
            <a:off x="722777" y="2374997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5609DF-6F54-FBEA-7FD0-8CFA609A984C}"/>
              </a:ext>
            </a:extLst>
          </p:cNvPr>
          <p:cNvSpPr txBox="1"/>
          <p:nvPr/>
        </p:nvSpPr>
        <p:spPr>
          <a:xfrm>
            <a:off x="6453068" y="236371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648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260435"/>
              </p:ext>
            </p:extLst>
          </p:nvPr>
        </p:nvGraphicFramePr>
        <p:xfrm>
          <a:off x="1082675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2675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8273180"/>
              </p:ext>
            </p:extLst>
          </p:nvPr>
        </p:nvGraphicFramePr>
        <p:xfrm>
          <a:off x="6813550" y="2916238"/>
          <a:ext cx="4598988" cy="2671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13550" y="2916238"/>
                        <a:ext cx="4598988" cy="2671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410508" y="1573940"/>
            <a:ext cx="36953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NAGUANAGUA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42D7D1A-5C2D-21D3-7FCC-90255F05DF24}"/>
              </a:ext>
            </a:extLst>
          </p:cNvPr>
          <p:cNvSpPr txBox="1"/>
          <p:nvPr/>
        </p:nvSpPr>
        <p:spPr>
          <a:xfrm>
            <a:off x="3996808" y="2305735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7C895D8-AAC8-D707-DC7B-F492D5EF4C13}"/>
              </a:ext>
            </a:extLst>
          </p:cNvPr>
          <p:cNvSpPr txBox="1"/>
          <p:nvPr/>
        </p:nvSpPr>
        <p:spPr>
          <a:xfrm>
            <a:off x="9531693" y="2345085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2BFF99C-8382-2296-B1D4-327061DE3170}"/>
              </a:ext>
            </a:extLst>
          </p:cNvPr>
          <p:cNvSpPr txBox="1"/>
          <p:nvPr/>
        </p:nvSpPr>
        <p:spPr>
          <a:xfrm>
            <a:off x="800629" y="230573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2B30086-338C-491C-C971-0053869864B2}"/>
              </a:ext>
            </a:extLst>
          </p:cNvPr>
          <p:cNvSpPr txBox="1"/>
          <p:nvPr/>
        </p:nvSpPr>
        <p:spPr>
          <a:xfrm>
            <a:off x="6475469" y="2305735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61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1538573"/>
              </p:ext>
            </p:extLst>
          </p:nvPr>
        </p:nvGraphicFramePr>
        <p:xfrm>
          <a:off x="1062754" y="2886133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2754" y="2886133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521695"/>
              </p:ext>
            </p:extLst>
          </p:nvPr>
        </p:nvGraphicFramePr>
        <p:xfrm>
          <a:off x="6873875" y="291147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73875" y="291147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2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TUCACAS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93868F-F4D6-E702-C729-00FB8BC53113}"/>
              </a:ext>
            </a:extLst>
          </p:cNvPr>
          <p:cNvSpPr txBox="1"/>
          <p:nvPr/>
        </p:nvSpPr>
        <p:spPr>
          <a:xfrm>
            <a:off x="3901350" y="230264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C570F0C-E66F-C9CB-FFAF-D57FAFB4A18D}"/>
              </a:ext>
            </a:extLst>
          </p:cNvPr>
          <p:cNvSpPr txBox="1"/>
          <p:nvPr/>
        </p:nvSpPr>
        <p:spPr>
          <a:xfrm>
            <a:off x="9592415" y="2341731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99A877-94C1-C3AB-2395-9C4E07BD154D}"/>
              </a:ext>
            </a:extLst>
          </p:cNvPr>
          <p:cNvSpPr txBox="1"/>
          <p:nvPr/>
        </p:nvSpPr>
        <p:spPr>
          <a:xfrm>
            <a:off x="765405" y="230264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5145EE4-967D-8911-B3D4-E6A9D0E3192B}"/>
              </a:ext>
            </a:extLst>
          </p:cNvPr>
          <p:cNvSpPr txBox="1"/>
          <p:nvPr/>
        </p:nvSpPr>
        <p:spPr>
          <a:xfrm>
            <a:off x="6626501" y="2326461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05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4591334"/>
              </p:ext>
            </p:extLst>
          </p:nvPr>
        </p:nvGraphicFramePr>
        <p:xfrm>
          <a:off x="1092200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200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1929033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SAN JUAN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319B29A-2502-6282-BB9F-01BCEAD0B584}"/>
              </a:ext>
            </a:extLst>
          </p:cNvPr>
          <p:cNvSpPr txBox="1"/>
          <p:nvPr/>
        </p:nvSpPr>
        <p:spPr>
          <a:xfrm>
            <a:off x="3877074" y="231132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44C0E6B-F7C3-5890-9C60-A4DE9B04352A}"/>
              </a:ext>
            </a:extLst>
          </p:cNvPr>
          <p:cNvSpPr txBox="1"/>
          <p:nvPr/>
        </p:nvSpPr>
        <p:spPr>
          <a:xfrm>
            <a:off x="9657079" y="2311328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F09B18-6698-7D09-FB36-E8341769DCA0}"/>
              </a:ext>
            </a:extLst>
          </p:cNvPr>
          <p:cNvSpPr txBox="1"/>
          <p:nvPr/>
        </p:nvSpPr>
        <p:spPr>
          <a:xfrm>
            <a:off x="757644" y="2250540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1BA70F-7CDA-270C-0C58-75C3FED3BEA4}"/>
              </a:ext>
            </a:extLst>
          </p:cNvPr>
          <p:cNvSpPr txBox="1"/>
          <p:nvPr/>
        </p:nvSpPr>
        <p:spPr>
          <a:xfrm>
            <a:off x="6559633" y="2250540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208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735BF891-EFCA-F876-943C-1852C5E913A2}"/>
              </a:ext>
            </a:extLst>
          </p:cNvPr>
          <p:cNvSpPr txBox="1"/>
          <p:nvPr/>
        </p:nvSpPr>
        <p:spPr>
          <a:xfrm>
            <a:off x="4853326" y="1569426"/>
            <a:ext cx="2730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SANTA RITA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728797"/>
              </p:ext>
            </p:extLst>
          </p:nvPr>
        </p:nvGraphicFramePr>
        <p:xfrm>
          <a:off x="896050" y="2876550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6050" y="2876550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1537262"/>
              </p:ext>
            </p:extLst>
          </p:nvPr>
        </p:nvGraphicFramePr>
        <p:xfrm>
          <a:off x="6973888" y="2876550"/>
          <a:ext cx="4598987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73888" y="2876550"/>
                        <a:ext cx="4598987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AE157A6B-88E4-B4F7-F4C9-67CC40FED34C}"/>
              </a:ext>
            </a:extLst>
          </p:cNvPr>
          <p:cNvSpPr txBox="1"/>
          <p:nvPr/>
        </p:nvSpPr>
        <p:spPr>
          <a:xfrm>
            <a:off x="3727372" y="2350230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30CAD2-BBC8-F981-7763-231D6E2481D1}"/>
              </a:ext>
            </a:extLst>
          </p:cNvPr>
          <p:cNvSpPr txBox="1"/>
          <p:nvPr/>
        </p:nvSpPr>
        <p:spPr>
          <a:xfrm>
            <a:off x="9614377" y="2302642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4D4D12-2588-ED38-9767-3BC087928714}"/>
              </a:ext>
            </a:extLst>
          </p:cNvPr>
          <p:cNvSpPr txBox="1"/>
          <p:nvPr/>
        </p:nvSpPr>
        <p:spPr>
          <a:xfrm>
            <a:off x="558183" y="2298973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38489B2-A668-8427-35C2-4C7AC164B30F}"/>
              </a:ext>
            </a:extLst>
          </p:cNvPr>
          <p:cNvSpPr txBox="1"/>
          <p:nvPr/>
        </p:nvSpPr>
        <p:spPr>
          <a:xfrm>
            <a:off x="6585933" y="2298973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49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89" y="8578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867166"/>
              </p:ext>
            </p:extLst>
          </p:nvPr>
        </p:nvGraphicFramePr>
        <p:xfrm>
          <a:off x="998441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98441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7122316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E176F5B-5B82-236B-EEDF-E8146DDCE50B}"/>
              </a:ext>
            </a:extLst>
          </p:cNvPr>
          <p:cNvSpPr txBox="1"/>
          <p:nvPr/>
        </p:nvSpPr>
        <p:spPr>
          <a:xfrm>
            <a:off x="4307929" y="1628183"/>
            <a:ext cx="36246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Montserrat Black" panose="00000A00000000000000" pitchFamily="50" charset="0"/>
                <a:ea typeface="+mn-ea"/>
                <a:cs typeface="+mn-cs"/>
              </a:rPr>
              <a:t>VICTORIA</a:t>
            </a:r>
            <a:endParaRPr kumimoji="0" lang="es-VE" sz="2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Montserrat Black" panose="00000A00000000000000" pitchFamily="50" charset="0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9EB8452-036E-0084-07AC-2AA1886AFF47}"/>
              </a:ext>
            </a:extLst>
          </p:cNvPr>
          <p:cNvSpPr txBox="1"/>
          <p:nvPr/>
        </p:nvSpPr>
        <p:spPr>
          <a:xfrm>
            <a:off x="6613989" y="224241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BFBFD2-A4DE-AC21-254C-BB9C5AE595C9}"/>
              </a:ext>
            </a:extLst>
          </p:cNvPr>
          <p:cNvSpPr txBox="1"/>
          <p:nvPr/>
        </p:nvSpPr>
        <p:spPr>
          <a:xfrm>
            <a:off x="9713366" y="2322519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D026C4A-28F4-5932-2F26-4DA136A6895F}"/>
              </a:ext>
            </a:extLst>
          </p:cNvPr>
          <p:cNvSpPr txBox="1"/>
          <p:nvPr/>
        </p:nvSpPr>
        <p:spPr>
          <a:xfrm>
            <a:off x="850874" y="2262018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412DE50-1178-CBD2-5F35-34F9A0DBB8A4}"/>
              </a:ext>
            </a:extLst>
          </p:cNvPr>
          <p:cNvSpPr txBox="1"/>
          <p:nvPr/>
        </p:nvSpPr>
        <p:spPr>
          <a:xfrm>
            <a:off x="3818948" y="2374223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16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89" y="8578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191993" y="1015762"/>
            <a:ext cx="10027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Novedades no corregidas y los incidentes ocurridos durante las dos últimas semanas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276658" y="1356406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4" name="Objeto 3">
            <a:extLst>
              <a:ext uri="{FF2B5EF4-FFF2-40B4-BE49-F238E27FC236}">
                <a16:creationId xmlns:a16="http://schemas.microsoft.com/office/drawing/2014/main" id="{EFF599EA-7B51-09BB-47C9-761D51E48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656546"/>
              </p:ext>
            </p:extLst>
          </p:nvPr>
        </p:nvGraphicFramePr>
        <p:xfrm>
          <a:off x="1046163" y="2879725"/>
          <a:ext cx="4702175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702629" imgH="2998963" progId="Excel.Sheet.12">
                  <p:embed/>
                </p:oleObj>
              </mc:Choice>
              <mc:Fallback>
                <p:oleObj name="Worksheet" r:id="rId3" imgW="4702629" imgH="2998963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EFF599EA-7B51-09BB-47C9-761D51E48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6163" y="2879725"/>
                        <a:ext cx="4702175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701A1641-F44B-8427-E4A5-6F991ADF2E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386825"/>
              </p:ext>
            </p:extLst>
          </p:nvPr>
        </p:nvGraphicFramePr>
        <p:xfrm>
          <a:off x="6918325" y="2879725"/>
          <a:ext cx="4598988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4599162" imgH="2672372" progId="Excel.Sheet.12">
                  <p:embed/>
                </p:oleObj>
              </mc:Choice>
              <mc:Fallback>
                <p:oleObj name="Worksheet" r:id="rId5" imgW="4599162" imgH="2672372" progId="Excel.Sheet.12">
                  <p:embed/>
                  <p:pic>
                    <p:nvPicPr>
                      <p:cNvPr id="6" name="Objeto 5">
                        <a:extLst>
                          <a:ext uri="{FF2B5EF4-FFF2-40B4-BE49-F238E27FC236}">
                            <a16:creationId xmlns:a16="http://schemas.microsoft.com/office/drawing/2014/main" id="{701A1641-F44B-8427-E4A5-6F991ADF2E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18325" y="2879725"/>
                        <a:ext cx="4598988" cy="2671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59EB8452-036E-0084-07AC-2AA1886AFF47}"/>
              </a:ext>
            </a:extLst>
          </p:cNvPr>
          <p:cNvSpPr txBox="1"/>
          <p:nvPr/>
        </p:nvSpPr>
        <p:spPr>
          <a:xfrm>
            <a:off x="3877072" y="2310489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6BFBFD2-A4DE-AC21-254C-BB9C5AE595C9}"/>
              </a:ext>
            </a:extLst>
          </p:cNvPr>
          <p:cNvSpPr txBox="1"/>
          <p:nvPr/>
        </p:nvSpPr>
        <p:spPr>
          <a:xfrm>
            <a:off x="9600079" y="2310489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EA1061-B677-6FD8-29F8-D0083F128A52}"/>
              </a:ext>
            </a:extLst>
          </p:cNvPr>
          <p:cNvSpPr txBox="1"/>
          <p:nvPr/>
        </p:nvSpPr>
        <p:spPr>
          <a:xfrm>
            <a:off x="4986535" y="1601570"/>
            <a:ext cx="6095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solidFill>
                  <a:prstClr val="black">
                    <a:lumMod val="85000"/>
                    <a:lumOff val="1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50" charset="0"/>
              </a:rPr>
              <a:t>CASTAÑO</a:t>
            </a:r>
            <a:endParaRPr lang="es-VE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BFB354B-9208-B6C6-9BA2-95682DFC7DA2}"/>
              </a:ext>
            </a:extLst>
          </p:cNvPr>
          <p:cNvSpPr txBox="1"/>
          <p:nvPr/>
        </p:nvSpPr>
        <p:spPr>
          <a:xfrm>
            <a:off x="727075" y="2325752"/>
            <a:ext cx="22189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5CDD689-4B15-5172-6EDE-C9157D08319E}"/>
              </a:ext>
            </a:extLst>
          </p:cNvPr>
          <p:cNvSpPr txBox="1"/>
          <p:nvPr/>
        </p:nvSpPr>
        <p:spPr>
          <a:xfrm>
            <a:off x="6597903" y="2302644"/>
            <a:ext cx="2218926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05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72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uadroTexto 14"/>
          <p:cNvSpPr txBox="1"/>
          <p:nvPr/>
        </p:nvSpPr>
        <p:spPr>
          <a:xfrm>
            <a:off x="1166190" y="106018"/>
            <a:ext cx="9859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BF238F8-0663-B760-120C-C209946B32D6}"/>
              </a:ext>
            </a:extLst>
          </p:cNvPr>
          <p:cNvSpPr txBox="1"/>
          <p:nvPr/>
        </p:nvSpPr>
        <p:spPr>
          <a:xfrm>
            <a:off x="3778372" y="1165337"/>
            <a:ext cx="4133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+mn-cs"/>
              </a:rPr>
              <a:t>Datos claves para futuras mejoras</a:t>
            </a:r>
            <a:endParaRPr kumimoji="0" lang="es-VE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ahnschrift" panose="020B0502040204020203" pitchFamily="34" charset="0"/>
              <a:ea typeface="+mn-ea"/>
              <a:cs typeface="+mn-cs"/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EA6B7EFB-548F-AF8C-8070-F47E77C2F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4179719"/>
              </p:ext>
            </p:extLst>
          </p:nvPr>
        </p:nvGraphicFramePr>
        <p:xfrm>
          <a:off x="-1" y="1978435"/>
          <a:ext cx="12091917" cy="42585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0228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uadroTexto 24"/>
          <p:cNvSpPr txBox="1"/>
          <p:nvPr/>
        </p:nvSpPr>
        <p:spPr>
          <a:xfrm>
            <a:off x="1887482" y="18864"/>
            <a:ext cx="9040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VE" sz="4000" b="0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Bahnschrift SemiBold SemiConden" panose="020B0502040204020203" pitchFamily="34" charset="0"/>
                <a:ea typeface="+mn-ea"/>
                <a:cs typeface="+mn-cs"/>
              </a:rPr>
              <a:t>COMPARATIVAS DE INCIDENCIAS SEMANAL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4133668" y="901735"/>
            <a:ext cx="4034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latin typeface="Bahnschrift" panose="020B0502040204020203" pitchFamily="34" charset="0"/>
              </a:rPr>
              <a:t>T</a:t>
            </a:r>
            <a:r>
              <a:rPr lang="es-VE" b="1" dirty="0">
                <a:latin typeface="Bahnschrift" panose="020B0502040204020203" pitchFamily="34" charset="0"/>
              </a:rPr>
              <a:t>OTAL DE NOVEDADES POR TIENDA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5ADF3446-88DC-0466-1223-ACB2B76A37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038664"/>
              </p:ext>
            </p:extLst>
          </p:nvPr>
        </p:nvGraphicFramePr>
        <p:xfrm>
          <a:off x="1846523" y="1987409"/>
          <a:ext cx="2784475" cy="4370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090057" imgH="4016771" progId="Excel.Sheet.12">
                  <p:embed/>
                </p:oleObj>
              </mc:Choice>
              <mc:Fallback>
                <p:oleObj name="Worksheet" r:id="rId3" imgW="2090057" imgH="4016771" progId="Excel.Sheet.12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5ADF3446-88DC-0466-1223-ACB2B76A37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6523" y="1987409"/>
                        <a:ext cx="2784475" cy="4370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o 15">
            <a:extLst>
              <a:ext uri="{FF2B5EF4-FFF2-40B4-BE49-F238E27FC236}">
                <a16:creationId xmlns:a16="http://schemas.microsoft.com/office/drawing/2014/main" id="{D2D3DAFC-0AC3-5CD3-323D-49EEF3D869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254692"/>
              </p:ext>
            </p:extLst>
          </p:nvPr>
        </p:nvGraphicFramePr>
        <p:xfrm>
          <a:off x="8235950" y="5588000"/>
          <a:ext cx="38814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5" imgW="3880770" imgH="571577" progId="Excel.Sheet.12">
                  <p:embed/>
                </p:oleObj>
              </mc:Choice>
              <mc:Fallback>
                <p:oleObj name="Worksheet" r:id="rId5" imgW="3880770" imgH="571577" progId="Excel.Sheet.12">
                  <p:embed/>
                  <p:pic>
                    <p:nvPicPr>
                      <p:cNvPr id="16" name="Objeto 15">
                        <a:extLst>
                          <a:ext uri="{FF2B5EF4-FFF2-40B4-BE49-F238E27FC236}">
                            <a16:creationId xmlns:a16="http://schemas.microsoft.com/office/drawing/2014/main" id="{D2D3DAFC-0AC3-5CD3-323D-49EEF3D869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35950" y="5588000"/>
                        <a:ext cx="3881438" cy="57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>
            <a:extLst>
              <a:ext uri="{FF2B5EF4-FFF2-40B4-BE49-F238E27FC236}">
                <a16:creationId xmlns:a16="http://schemas.microsoft.com/office/drawing/2014/main" id="{82A3CEFF-0708-15A8-E81D-CB3EE7DCC3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560047"/>
              </p:ext>
            </p:extLst>
          </p:nvPr>
        </p:nvGraphicFramePr>
        <p:xfrm>
          <a:off x="9730854" y="5293375"/>
          <a:ext cx="2227541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7" imgW="2590861" imgH="295130" progId="Excel.Sheet.12">
                  <p:embed/>
                </p:oleObj>
              </mc:Choice>
              <mc:Fallback>
                <p:oleObj name="Worksheet" r:id="rId7" imgW="2590861" imgH="295130" progId="Excel.Sheet.12">
                  <p:embed/>
                  <p:pic>
                    <p:nvPicPr>
                      <p:cNvPr id="23" name="Objeto 22">
                        <a:extLst>
                          <a:ext uri="{FF2B5EF4-FFF2-40B4-BE49-F238E27FC236}">
                            <a16:creationId xmlns:a16="http://schemas.microsoft.com/office/drawing/2014/main" id="{82A3CEFF-0708-15A8-E81D-CB3EE7DCC3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730854" y="5293375"/>
                        <a:ext cx="2227541" cy="295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1CB9CDB9-ACC0-8F19-7267-53F12D580532}"/>
              </a:ext>
            </a:extLst>
          </p:cNvPr>
          <p:cNvSpPr txBox="1"/>
          <p:nvPr/>
        </p:nvSpPr>
        <p:spPr>
          <a:xfrm>
            <a:off x="5421407" y="1248745"/>
            <a:ext cx="233304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11/05/2026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17/05/2026</a:t>
            </a:r>
            <a:endParaRPr lang="es-VE" sz="140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23335C-A20A-1129-1738-F278EADA8351}"/>
              </a:ext>
            </a:extLst>
          </p:cNvPr>
          <p:cNvSpPr txBox="1"/>
          <p:nvPr/>
        </p:nvSpPr>
        <p:spPr>
          <a:xfrm>
            <a:off x="1920845" y="1248745"/>
            <a:ext cx="23330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Lunes 04/05/2026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AL </a:t>
            </a:r>
          </a:p>
          <a:p>
            <a:pPr algn="ctr"/>
            <a:r>
              <a:rPr lang="es-E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 Black" panose="00000A00000000000000" pitchFamily="50" charset="0"/>
              </a:rPr>
              <a:t>Domingo 10/05/2026</a:t>
            </a:r>
            <a:endParaRPr lang="es-VE" sz="140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  <a:p>
            <a:pPr algn="ctr"/>
            <a:endParaRPr lang="es-VE" sz="1400" b="1" dirty="0">
              <a:solidFill>
                <a:schemeClr val="tx1">
                  <a:lumMod val="85000"/>
                  <a:lumOff val="15000"/>
                </a:schemeClr>
              </a:solidFill>
              <a:latin typeface="Montserrat Black" panose="00000A00000000000000" pitchFamily="50" charset="0"/>
            </a:endParaRPr>
          </a:p>
        </p:txBody>
      </p:sp>
      <p:graphicFrame>
        <p:nvGraphicFramePr>
          <p:cNvPr id="6" name="Objeto 5">
            <a:extLst>
              <a:ext uri="{FF2B5EF4-FFF2-40B4-BE49-F238E27FC236}">
                <a16:creationId xmlns:a16="http://schemas.microsoft.com/office/drawing/2014/main" id="{2DC4954A-1ADF-C050-DB07-E8C70C850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444519"/>
              </p:ext>
            </p:extLst>
          </p:nvPr>
        </p:nvGraphicFramePr>
        <p:xfrm>
          <a:off x="5211763" y="1987550"/>
          <a:ext cx="2443162" cy="454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9" imgW="2090057" imgH="4011411" progId="Excel.Sheet.12">
                  <p:embed/>
                </p:oleObj>
              </mc:Choice>
              <mc:Fallback>
                <p:oleObj name="Worksheet" r:id="rId9" imgW="2090057" imgH="4011411" progId="Excel.Sheet.12">
                  <p:embed/>
                  <p:pic>
                    <p:nvPicPr>
                      <p:cNvPr id="4" name="Objeto 3">
                        <a:extLst>
                          <a:ext uri="{FF2B5EF4-FFF2-40B4-BE49-F238E27FC236}">
                            <a16:creationId xmlns:a16="http://schemas.microsoft.com/office/drawing/2014/main" id="{0EF17C71-6AAA-DAC2-8F5F-F06050FCD1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11763" y="1987550"/>
                        <a:ext cx="2443162" cy="4548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8666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9779</TotalTime>
  <Words>666</Words>
  <Application>Microsoft Office PowerPoint</Application>
  <PresentationFormat>Panorámica</PresentationFormat>
  <Paragraphs>250</Paragraphs>
  <Slides>18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2</vt:i4>
      </vt:variant>
      <vt:variant>
        <vt:lpstr>Títulos de diapositiva</vt:lpstr>
      </vt:variant>
      <vt:variant>
        <vt:i4>18</vt:i4>
      </vt:variant>
    </vt:vector>
  </HeadingPairs>
  <TitlesOfParts>
    <vt:vector size="27" baseType="lpstr">
      <vt:lpstr>Arial</vt:lpstr>
      <vt:lpstr>Bahnschrift</vt:lpstr>
      <vt:lpstr>Bahnschrift SemiBold SemiConden</vt:lpstr>
      <vt:lpstr>Calibri</vt:lpstr>
      <vt:lpstr>Calibri Light</vt:lpstr>
      <vt:lpstr>Montserrat Black</vt:lpstr>
      <vt:lpstr>Tema de Office</vt:lpstr>
      <vt:lpstr>Hoja de cálculo de Microsoft Excel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Admin</cp:lastModifiedBy>
  <cp:revision>1204</cp:revision>
  <dcterms:created xsi:type="dcterms:W3CDTF">2024-02-20T15:15:42Z</dcterms:created>
  <dcterms:modified xsi:type="dcterms:W3CDTF">2026-05-18T18:25:10Z</dcterms:modified>
</cp:coreProperties>
</file>